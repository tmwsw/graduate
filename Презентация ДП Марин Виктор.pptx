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103" d="100"/>
          <a:sy n="103" d="100"/>
        </p:scale>
        <p:origin x="960" y="126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7"/>
            <a:ext cx="7953375" cy="3230883"/>
          </a:xfrm>
        </p:spPr>
        <p:txBody>
          <a:bodyPr/>
          <a:lstStyle/>
          <a:p>
            <a:r>
              <a:rPr lang="ru-RU" sz="4800" dirty="0"/>
              <a:t>Разработка информационной системы управления ремонтами компьютеров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714375" y="8062001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Базяк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Галина Владимировна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714375" y="5839290"/>
            <a:ext cx="79533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Марин Виктор Васильевич ИСП – 21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Специальность: 09.02.07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«Информационные системы и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программирование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352022" y="327183"/>
            <a:ext cx="115839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3D8171-C977-AA89-1E9E-98776572E197}"/>
              </a:ext>
            </a:extLst>
          </p:cNvPr>
          <p:cNvSpPr/>
          <p:nvPr/>
        </p:nvSpPr>
        <p:spPr>
          <a:xfrm>
            <a:off x="4357394" y="-7649"/>
            <a:ext cx="13930605" cy="102946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B28F-84A8-90D1-75A5-667C087A3121}"/>
              </a:ext>
            </a:extLst>
          </p:cNvPr>
          <p:cNvSpPr txBox="1"/>
          <p:nvPr/>
        </p:nvSpPr>
        <p:spPr>
          <a:xfrm>
            <a:off x="447869" y="830425"/>
            <a:ext cx="3536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Цель и задачи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ABDFA-53E1-90F9-34F0-D4710EED577D}"/>
              </a:ext>
            </a:extLst>
          </p:cNvPr>
          <p:cNvSpPr txBox="1"/>
          <p:nvPr/>
        </p:nvSpPr>
        <p:spPr>
          <a:xfrm>
            <a:off x="5309118" y="830426"/>
            <a:ext cx="1253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Целью</a:t>
            </a:r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 работы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 являлась разработка информационной системы управления ремонтами компьютеров.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8D9A-816E-84A4-6023-8A8300DE77C6}"/>
              </a:ext>
            </a:extLst>
          </p:cNvPr>
          <p:cNvSpPr txBox="1"/>
          <p:nvPr/>
        </p:nvSpPr>
        <p:spPr>
          <a:xfrm>
            <a:off x="5309118" y="2104606"/>
            <a:ext cx="11215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Для достижения цели были поставлены следующие 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задачи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:</a:t>
            </a:r>
            <a:endParaRPr lang="ru-RU" sz="2400" dirty="0">
              <a:latin typeface="Nunito Bold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D8F4804-7847-DF14-B564-11A3EC6C8BB4}"/>
              </a:ext>
            </a:extLst>
          </p:cNvPr>
          <p:cNvCxnSpPr/>
          <p:nvPr/>
        </p:nvCxnSpPr>
        <p:spPr>
          <a:xfrm>
            <a:off x="5309118" y="3592383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495E-690C-C28D-A0DB-7078B51D8795}"/>
              </a:ext>
            </a:extLst>
          </p:cNvPr>
          <p:cNvSpPr txBox="1"/>
          <p:nvPr/>
        </p:nvSpPr>
        <p:spPr>
          <a:xfrm>
            <a:off x="6119974" y="2729190"/>
            <a:ext cx="111127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Провести анализ предметной области сервисного центра, определить основные бизнес-процессы, сущности и их взаимосвязи.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90A954-C91F-30B4-CB42-565C70358DCA}"/>
              </a:ext>
            </a:extLst>
          </p:cNvPr>
          <p:cNvSpPr/>
          <p:nvPr/>
        </p:nvSpPr>
        <p:spPr>
          <a:xfrm>
            <a:off x="5495345" y="2723867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0AF37C-BEC0-C1E8-52BC-361725FF1358}"/>
              </a:ext>
            </a:extLst>
          </p:cNvPr>
          <p:cNvCxnSpPr/>
          <p:nvPr/>
        </p:nvCxnSpPr>
        <p:spPr>
          <a:xfrm>
            <a:off x="5309118" y="4568679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C65E20B-1160-2419-8B50-088B630322D8}"/>
              </a:ext>
            </a:extLst>
          </p:cNvPr>
          <p:cNvCxnSpPr/>
          <p:nvPr/>
        </p:nvCxnSpPr>
        <p:spPr>
          <a:xfrm>
            <a:off x="5309118" y="571214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B750E71B-7D51-FA32-E8A3-43D6E55BB9F2}"/>
              </a:ext>
            </a:extLst>
          </p:cNvPr>
          <p:cNvCxnSpPr/>
          <p:nvPr/>
        </p:nvCxnSpPr>
        <p:spPr>
          <a:xfrm>
            <a:off x="5309118" y="6891955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FA951B3-D3FF-FC99-D5C5-D1B26C7B43C6}"/>
              </a:ext>
            </a:extLst>
          </p:cNvPr>
          <p:cNvCxnSpPr/>
          <p:nvPr/>
        </p:nvCxnSpPr>
        <p:spPr>
          <a:xfrm>
            <a:off x="5309118" y="803637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1D265C-3A12-A85F-CD97-8BFCA7A8FDA4}"/>
              </a:ext>
            </a:extLst>
          </p:cNvPr>
          <p:cNvSpPr/>
          <p:nvPr/>
        </p:nvSpPr>
        <p:spPr>
          <a:xfrm>
            <a:off x="5495343" y="369020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6A6AA9-5981-DA25-8777-4B0CFEA8F758}"/>
              </a:ext>
            </a:extLst>
          </p:cNvPr>
          <p:cNvSpPr/>
          <p:nvPr/>
        </p:nvSpPr>
        <p:spPr>
          <a:xfrm>
            <a:off x="5495345" y="4832231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A953E3-CE2A-A1CF-FAB5-48AC649F10B6}"/>
              </a:ext>
            </a:extLst>
          </p:cNvPr>
          <p:cNvSpPr/>
          <p:nvPr/>
        </p:nvSpPr>
        <p:spPr>
          <a:xfrm>
            <a:off x="5495344" y="5964914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E7CD84-B389-1B2D-9AA6-3638AAD5B352}"/>
              </a:ext>
            </a:extLst>
          </p:cNvPr>
          <p:cNvSpPr/>
          <p:nvPr/>
        </p:nvSpPr>
        <p:spPr>
          <a:xfrm>
            <a:off x="5495345" y="720715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3EE8DD-7229-3B0B-0F41-21ACF5AACB5E}"/>
              </a:ext>
            </a:extLst>
          </p:cNvPr>
          <p:cNvSpPr txBox="1"/>
          <p:nvPr/>
        </p:nvSpPr>
        <p:spPr>
          <a:xfrm>
            <a:off x="6119974" y="3658882"/>
            <a:ext cx="10909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модель хранения данных в реляционной базе данных и модуль управления данными.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5A344-7C82-A30F-02CE-517A0D8414AE}"/>
              </a:ext>
            </a:extLst>
          </p:cNvPr>
          <p:cNvSpPr txBox="1"/>
          <p:nvPr/>
        </p:nvSpPr>
        <p:spPr>
          <a:xfrm>
            <a:off x="6142070" y="4801452"/>
            <a:ext cx="1120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Реализовать CRUD-операции для основных сущностей системы с поддержкой поиска и фильтрации.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A2756DE-D8E4-2528-35D5-8A99397267F8}"/>
              </a:ext>
            </a:extLst>
          </p:cNvPr>
          <p:cNvSpPr/>
          <p:nvPr/>
        </p:nvSpPr>
        <p:spPr>
          <a:xfrm>
            <a:off x="5495345" y="8237549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6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C8C7F-6C3F-72A3-D897-B291663D40BD}"/>
              </a:ext>
            </a:extLst>
          </p:cNvPr>
          <p:cNvSpPr txBox="1"/>
          <p:nvPr/>
        </p:nvSpPr>
        <p:spPr>
          <a:xfrm>
            <a:off x="6142070" y="5886553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функционал учета техники, включая регистрацию устройств, привязку к клиентам и хранение истории ремонтов.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3673B-A08F-DCC0-79F7-8D7EF4DCA0F9}"/>
              </a:ext>
            </a:extLst>
          </p:cNvPr>
          <p:cNvSpPr txBox="1"/>
          <p:nvPr/>
        </p:nvSpPr>
        <p:spPr>
          <a:xfrm>
            <a:off x="6119974" y="7072617"/>
            <a:ext cx="108740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подсистему управления мастерами и заявками с учетом их характеристик, статусов и расчета стоимости.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3B647A-2601-8E6E-1D47-73C74180E932}"/>
              </a:ext>
            </a:extLst>
          </p:cNvPr>
          <p:cNvSpPr txBox="1"/>
          <p:nvPr/>
        </p:nvSpPr>
        <p:spPr>
          <a:xfrm>
            <a:off x="6142070" y="8180818"/>
            <a:ext cx="104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effectLst/>
                <a:latin typeface="Nunito Bold" pitchFamily="2" charset="-52"/>
              </a:rPr>
              <a:t>Реализовать средства аналитики и визуализации данных, а также провести тестирование системы.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066EAED-33DD-0A7B-5952-5E72C244F04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3C63A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3200" b="0" cap="none" spc="0" dirty="0">
              <a:ln w="0"/>
              <a:solidFill>
                <a:srgbClr val="3C63A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A74AF5E-6EAA-8F0C-BABC-75ED0CEB9EC8}"/>
              </a:ext>
            </a:extLst>
          </p:cNvPr>
          <p:cNvSpPr/>
          <p:nvPr/>
        </p:nvSpPr>
        <p:spPr>
          <a:xfrm>
            <a:off x="1526214" y="2766754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125CDFA-7EC7-F917-DE99-447A1915B8EA}"/>
              </a:ext>
            </a:extLst>
          </p:cNvPr>
          <p:cNvSpPr/>
          <p:nvPr/>
        </p:nvSpPr>
        <p:spPr>
          <a:xfrm>
            <a:off x="4895723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91199-F78F-E1F0-B83C-AF58D38860F3}"/>
              </a:ext>
            </a:extLst>
          </p:cNvPr>
          <p:cNvSpPr/>
          <p:nvPr/>
        </p:nvSpPr>
        <p:spPr>
          <a:xfrm>
            <a:off x="8463157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B08125D-5897-298D-5FC9-649FD38606F9}"/>
              </a:ext>
            </a:extLst>
          </p:cNvPr>
          <p:cNvSpPr/>
          <p:nvPr/>
        </p:nvSpPr>
        <p:spPr>
          <a:xfrm>
            <a:off x="12334542" y="2773247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354563" y="503852"/>
            <a:ext cx="7875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Bold" pitchFamily="2" charset="-52"/>
              </a:rPr>
              <a:t>Логическая структура программы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7AFAA05-15C1-639E-6C4C-D55C19FB012C}"/>
              </a:ext>
            </a:extLst>
          </p:cNvPr>
          <p:cNvCxnSpPr/>
          <p:nvPr/>
        </p:nvCxnSpPr>
        <p:spPr>
          <a:xfrm>
            <a:off x="-93307" y="1196836"/>
            <a:ext cx="86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0873BE-C444-9042-80EF-65BD6651CFE3}"/>
              </a:ext>
            </a:extLst>
          </p:cNvPr>
          <p:cNvSpPr/>
          <p:nvPr/>
        </p:nvSpPr>
        <p:spPr>
          <a:xfrm>
            <a:off x="15901976" y="2776102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A4DBF-8B5B-27AB-E8FD-D2A50D40E1CC}"/>
              </a:ext>
            </a:extLst>
          </p:cNvPr>
          <p:cNvSpPr txBox="1"/>
          <p:nvPr/>
        </p:nvSpPr>
        <p:spPr>
          <a:xfrm>
            <a:off x="924194" y="5868095"/>
            <a:ext cx="1927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Клиентская часть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DCD7-B26B-D39D-5ED7-99AE4B2F5E79}"/>
              </a:ext>
            </a:extLst>
          </p:cNvPr>
          <p:cNvSpPr txBox="1"/>
          <p:nvPr/>
        </p:nvSpPr>
        <p:spPr>
          <a:xfrm>
            <a:off x="4265668" y="5870303"/>
            <a:ext cx="18599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Серверное </a:t>
            </a:r>
            <a:r>
              <a:rPr lang="en-US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API </a:t>
            </a:r>
            <a:endParaRPr lang="ru-RU" sz="2400" dirty="0">
              <a:latin typeface="Nunito Bold" pitchFamily="2" charset="-5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0CA60-3B6C-1668-92E9-1A9F62D62445}"/>
              </a:ext>
            </a:extLst>
          </p:cNvPr>
          <p:cNvSpPr txBox="1"/>
          <p:nvPr/>
        </p:nvSpPr>
        <p:spPr>
          <a:xfrm>
            <a:off x="8094811" y="5868095"/>
            <a:ext cx="1336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База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98DCD-6F16-0F5B-B56F-562EB38A0776}"/>
              </a:ext>
            </a:extLst>
          </p:cNvPr>
          <p:cNvSpPr txBox="1"/>
          <p:nvPr/>
        </p:nvSpPr>
        <p:spPr>
          <a:xfrm>
            <a:off x="11092715" y="5685636"/>
            <a:ext cx="30834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Модули: аналитика, отчеты, аутентификация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B2DA2-2043-187B-84ED-EF1AC0E9429C}"/>
              </a:ext>
            </a:extLst>
          </p:cNvPr>
          <p:cNvSpPr txBox="1"/>
          <p:nvPr/>
        </p:nvSpPr>
        <p:spPr>
          <a:xfrm>
            <a:off x="14835674" y="5773170"/>
            <a:ext cx="272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Nunito Bold" pitchFamily="2" charset="-52"/>
              </a:rPr>
              <a:t>CRUD-</a:t>
            </a:r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операции и фильтрации данных</a:t>
            </a:r>
          </a:p>
        </p:txBody>
      </p:sp>
      <p:sp>
        <p:nvSpPr>
          <p:cNvPr id="21" name="AutoShape 2" descr="Клиент иконка SVG, Концепции маркетинга Векторные иконки |…">
            <a:extLst>
              <a:ext uri="{FF2B5EF4-FFF2-40B4-BE49-F238E27FC236}">
                <a16:creationId xmlns:a16="http://schemas.microsoft.com/office/drawing/2014/main" id="{CA73FDEE-A52B-0B46-29CF-FDE5B9EE8C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2691" y="3899991"/>
            <a:ext cx="1078625" cy="107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DD9063A-79C2-C475-59CA-7A32F6CD9A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194" y="3750533"/>
            <a:ext cx="1927122" cy="1927122"/>
          </a:xfrm>
          <a:prstGeom prst="rect">
            <a:avLst/>
          </a:prstGeom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33B11F89-953F-2D37-BFFD-38CE81746863}"/>
              </a:ext>
            </a:extLst>
          </p:cNvPr>
          <p:cNvSpPr/>
          <p:nvPr/>
        </p:nvSpPr>
        <p:spPr>
          <a:xfrm>
            <a:off x="895508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61E4CC1-3D19-684D-0FE2-0C2C3CE2D658}"/>
              </a:ext>
            </a:extLst>
          </p:cNvPr>
          <p:cNvSpPr/>
          <p:nvPr/>
        </p:nvSpPr>
        <p:spPr>
          <a:xfrm>
            <a:off x="4199946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5BF6A92-0D53-74F4-2C0B-0FBAD8DCF2B2}"/>
              </a:ext>
            </a:extLst>
          </p:cNvPr>
          <p:cNvSpPr/>
          <p:nvPr/>
        </p:nvSpPr>
        <p:spPr>
          <a:xfrm>
            <a:off x="7767380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7A507A7-19DF-8BB5-912B-597B4A255651}"/>
              </a:ext>
            </a:extLst>
          </p:cNvPr>
          <p:cNvSpPr/>
          <p:nvPr/>
        </p:nvSpPr>
        <p:spPr>
          <a:xfrm>
            <a:off x="11640799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95B8C0C-39F8-6772-A1AF-07573FB8FDFB}"/>
              </a:ext>
            </a:extLst>
          </p:cNvPr>
          <p:cNvSpPr/>
          <p:nvPr/>
        </p:nvSpPr>
        <p:spPr>
          <a:xfrm>
            <a:off x="15206200" y="385177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D0B54ACA-B918-9717-9C5E-647239F24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363" y="4081026"/>
            <a:ext cx="1360558" cy="136055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229059B-4527-9939-7A8B-0DA6F06AD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062" y="3947290"/>
            <a:ext cx="1628030" cy="162803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D35DC2-3744-F4FE-3551-20123BF32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6175" y="3987090"/>
            <a:ext cx="1548429" cy="1548429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43CA654-0B0D-A532-E5D1-94D6871CFE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5597" y="3947290"/>
            <a:ext cx="1683377" cy="1683377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72AEE5E-39C3-9FE4-D773-73E8A7CE98E8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6516474" y="573781"/>
            <a:ext cx="7259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Nunito Bold" pitchFamily="2" charset="-52"/>
              </a:rPr>
              <a:t>Пример интерфейса</a:t>
            </a:r>
            <a:endParaRPr lang="ru-RU" sz="3600" dirty="0">
              <a:latin typeface="Nunito Bold" pitchFamily="2" charset="-52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556" y="1786018"/>
            <a:ext cx="13628888" cy="6714963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just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3920</TotalTime>
  <Words>262</Words>
  <Application>Microsoft Office PowerPoint</Application>
  <PresentationFormat>Произвольный</PresentationFormat>
  <Paragraphs>51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HK Rambov</cp:lastModifiedBy>
  <cp:revision>74</cp:revision>
  <dcterms:created xsi:type="dcterms:W3CDTF">2025-10-16T18:17:35Z</dcterms:created>
  <dcterms:modified xsi:type="dcterms:W3CDTF">2026-06-16T20:00:01Z</dcterms:modified>
</cp:coreProperties>
</file>